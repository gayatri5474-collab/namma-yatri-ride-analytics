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80" r:id="rId4"/>
    <p:sldId id="288" r:id="rId5"/>
    <p:sldId id="289" r:id="rId6"/>
    <p:sldId id="297" r:id="rId7"/>
    <p:sldId id="291" r:id="rId8"/>
    <p:sldId id="298" r:id="rId9"/>
    <p:sldId id="299" r:id="rId10"/>
    <p:sldId id="293" r:id="rId11"/>
    <p:sldId id="294" r:id="rId12"/>
    <p:sldId id="295" r:id="rId13"/>
    <p:sldId id="296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0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9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62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1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6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3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9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799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89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8475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78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63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4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AA0DF-90D6-4FB2-AC21-B2D22D293E1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DB75030-5DDF-43B5-94A1-29DCE2A60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12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1712149" y="314709"/>
            <a:ext cx="7496175" cy="357841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9539" rIns="0" bIns="0" rtlCol="0">
            <a:spAutoFit/>
          </a:bodyPr>
          <a:lstStyle/>
          <a:p>
            <a:pPr marL="562610" marR="573405" algn="ctr">
              <a:lnSpc>
                <a:spcPts val="2710"/>
              </a:lnSpc>
              <a:spcBef>
                <a:spcPts val="1019"/>
              </a:spcBef>
            </a:pPr>
            <a:r>
              <a:rPr sz="2750" spc="100" dirty="0">
                <a:latin typeface="Franklin Gothic Demi"/>
                <a:cs typeface="Franklin Gothic Demi"/>
              </a:rPr>
              <a:t>Namma</a:t>
            </a:r>
            <a:r>
              <a:rPr sz="2750" spc="280" dirty="0">
                <a:latin typeface="Franklin Gothic Demi"/>
                <a:cs typeface="Franklin Gothic Demi"/>
              </a:rPr>
              <a:t> </a:t>
            </a:r>
            <a:r>
              <a:rPr sz="2750" spc="65" dirty="0">
                <a:latin typeface="Franklin Gothic Demi"/>
                <a:cs typeface="Franklin Gothic Demi"/>
              </a:rPr>
              <a:t>Yatri:</a:t>
            </a:r>
            <a:r>
              <a:rPr sz="2750" spc="254" dirty="0">
                <a:latin typeface="Franklin Gothic Demi"/>
                <a:cs typeface="Franklin Gothic Demi"/>
              </a:rPr>
              <a:t> </a:t>
            </a:r>
            <a:r>
              <a:rPr sz="2750" spc="120" dirty="0">
                <a:latin typeface="Franklin Gothic Demi"/>
                <a:cs typeface="Franklin Gothic Demi"/>
              </a:rPr>
              <a:t>Data-</a:t>
            </a:r>
            <a:r>
              <a:rPr sz="2750" spc="85" dirty="0">
                <a:latin typeface="Franklin Gothic Demi"/>
                <a:cs typeface="Franklin Gothic Demi"/>
              </a:rPr>
              <a:t>Driven</a:t>
            </a:r>
            <a:r>
              <a:rPr sz="2750" spc="270" dirty="0">
                <a:latin typeface="Franklin Gothic Demi"/>
                <a:cs typeface="Franklin Gothic Demi"/>
              </a:rPr>
              <a:t> </a:t>
            </a:r>
            <a:r>
              <a:rPr sz="2750" spc="90" dirty="0">
                <a:latin typeface="Franklin Gothic Demi"/>
                <a:cs typeface="Franklin Gothic Demi"/>
              </a:rPr>
              <a:t>Operational </a:t>
            </a:r>
            <a:r>
              <a:rPr sz="2750" spc="85" dirty="0">
                <a:latin typeface="Franklin Gothic Demi"/>
                <a:cs typeface="Franklin Gothic Demi"/>
              </a:rPr>
              <a:t>Strategy</a:t>
            </a:r>
            <a:endParaRPr sz="2750" dirty="0">
              <a:latin typeface="Franklin Gothic Demi"/>
              <a:cs typeface="Franklin Gothic Demi"/>
            </a:endParaRPr>
          </a:p>
          <a:p>
            <a:pPr marL="517525" marR="533400" algn="ctr">
              <a:lnSpc>
                <a:spcPct val="161600"/>
              </a:lnSpc>
              <a:spcBef>
                <a:spcPts val="80"/>
              </a:spcBef>
            </a:pPr>
            <a:r>
              <a:rPr sz="2750" dirty="0">
                <a:latin typeface="Franklin Gothic Demi"/>
                <a:cs typeface="Franklin Gothic Demi"/>
              </a:rPr>
              <a:t>A</a:t>
            </a:r>
            <a:r>
              <a:rPr sz="2750" spc="245" dirty="0">
                <a:latin typeface="Franklin Gothic Demi"/>
                <a:cs typeface="Franklin Gothic Demi"/>
              </a:rPr>
              <a:t> </a:t>
            </a:r>
            <a:r>
              <a:rPr sz="2750" spc="85" dirty="0">
                <a:latin typeface="Franklin Gothic Demi"/>
                <a:cs typeface="Franklin Gothic Demi"/>
              </a:rPr>
              <a:t>Report</a:t>
            </a:r>
            <a:r>
              <a:rPr sz="2750" spc="215" dirty="0">
                <a:latin typeface="Franklin Gothic Demi"/>
                <a:cs typeface="Franklin Gothic Demi"/>
              </a:rPr>
              <a:t> </a:t>
            </a:r>
            <a:r>
              <a:rPr sz="2750" spc="80" dirty="0">
                <a:latin typeface="Franklin Gothic Demi"/>
                <a:cs typeface="Franklin Gothic Demi"/>
              </a:rPr>
              <a:t>on</a:t>
            </a:r>
            <a:r>
              <a:rPr sz="2750" spc="190" dirty="0">
                <a:latin typeface="Franklin Gothic Demi"/>
                <a:cs typeface="Franklin Gothic Demi"/>
              </a:rPr>
              <a:t> </a:t>
            </a:r>
            <a:r>
              <a:rPr sz="2750" spc="110" dirty="0">
                <a:latin typeface="Franklin Gothic Demi"/>
                <a:cs typeface="Franklin Gothic Demi"/>
              </a:rPr>
              <a:t>Visualisation</a:t>
            </a:r>
            <a:r>
              <a:rPr sz="2750" spc="195" dirty="0">
                <a:latin typeface="Franklin Gothic Demi"/>
                <a:cs typeface="Franklin Gothic Demi"/>
              </a:rPr>
              <a:t> </a:t>
            </a:r>
            <a:r>
              <a:rPr sz="2750" spc="95" dirty="0">
                <a:latin typeface="Franklin Gothic Demi"/>
                <a:cs typeface="Franklin Gothic Demi"/>
              </a:rPr>
              <a:t>and</a:t>
            </a:r>
            <a:r>
              <a:rPr sz="2750" spc="220" dirty="0">
                <a:latin typeface="Franklin Gothic Demi"/>
                <a:cs typeface="Franklin Gothic Demi"/>
              </a:rPr>
              <a:t> </a:t>
            </a:r>
            <a:r>
              <a:rPr sz="2750" spc="90" dirty="0">
                <a:latin typeface="Franklin Gothic Demi"/>
                <a:cs typeface="Franklin Gothic Demi"/>
              </a:rPr>
              <a:t>Analysis </a:t>
            </a:r>
            <a:r>
              <a:rPr lang="en-US" sz="2750" spc="90" dirty="0" smtClean="0">
                <a:latin typeface="Franklin Gothic Demi"/>
                <a:cs typeface="Franklin Gothic Demi"/>
              </a:rPr>
              <a:t>Based on Power BI Analysis               (By Gayatri Behera)                                       </a:t>
            </a:r>
            <a:r>
              <a:rPr sz="2750" spc="95" dirty="0" smtClean="0">
                <a:latin typeface="Franklin Gothic Demi"/>
                <a:cs typeface="Franklin Gothic Demi"/>
              </a:rPr>
              <a:t>Presented</a:t>
            </a:r>
            <a:r>
              <a:rPr sz="2750" spc="215" dirty="0" smtClean="0">
                <a:latin typeface="Franklin Gothic Demi"/>
                <a:cs typeface="Franklin Gothic Demi"/>
              </a:rPr>
              <a:t> </a:t>
            </a:r>
            <a:r>
              <a:rPr sz="2750" spc="75" dirty="0">
                <a:latin typeface="Franklin Gothic Demi"/>
                <a:cs typeface="Franklin Gothic Demi"/>
              </a:rPr>
              <a:t>to:</a:t>
            </a:r>
            <a:r>
              <a:rPr sz="2750" spc="250" dirty="0">
                <a:latin typeface="Franklin Gothic Demi"/>
                <a:cs typeface="Franklin Gothic Demi"/>
              </a:rPr>
              <a:t> </a:t>
            </a:r>
            <a:r>
              <a:rPr sz="2750" spc="80" dirty="0">
                <a:latin typeface="Franklin Gothic Demi"/>
                <a:cs typeface="Franklin Gothic Demi"/>
              </a:rPr>
              <a:t>Technical</a:t>
            </a:r>
            <a:r>
              <a:rPr sz="2750" spc="229" dirty="0">
                <a:latin typeface="Franklin Gothic Demi"/>
                <a:cs typeface="Franklin Gothic Demi"/>
              </a:rPr>
              <a:t> </a:t>
            </a:r>
            <a:r>
              <a:rPr sz="2750" spc="95" dirty="0">
                <a:latin typeface="Franklin Gothic Demi"/>
                <a:cs typeface="Franklin Gothic Demi"/>
              </a:rPr>
              <a:t>Leadership</a:t>
            </a:r>
            <a:endParaRPr sz="2750" dirty="0">
              <a:latin typeface="Franklin Gothic Demi"/>
              <a:cs typeface="Franklin Gothic Demi"/>
            </a:endParaRPr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5551" y="4178606"/>
            <a:ext cx="3691025" cy="206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2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8"/>
          <p:cNvSpPr/>
          <p:nvPr/>
        </p:nvSpPr>
        <p:spPr>
          <a:xfrm>
            <a:off x="3341370" y="1158145"/>
            <a:ext cx="2131060" cy="0"/>
          </a:xfrm>
          <a:custGeom>
            <a:avLst/>
            <a:gdLst/>
            <a:ahLst/>
            <a:cxnLst/>
            <a:rect l="l" t="t" r="r" b="b"/>
            <a:pathLst>
              <a:path w="2131060">
                <a:moveTo>
                  <a:pt x="0" y="0"/>
                </a:moveTo>
                <a:lnTo>
                  <a:pt x="2130615" y="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 txBox="1">
            <a:spLocks/>
          </p:cNvSpPr>
          <p:nvPr/>
        </p:nvSpPr>
        <p:spPr>
          <a:xfrm>
            <a:off x="3328035" y="-785019"/>
            <a:ext cx="9334182" cy="1570037"/>
          </a:xfrm>
          <a:prstGeom prst="rect">
            <a:avLst/>
          </a:prstGeom>
        </p:spPr>
        <p:txBody>
          <a:bodyPr vert="horz" wrap="square" lIns="0" tIns="885507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b="1" spc="-10" dirty="0" smtClean="0"/>
              <a:t>Agenda</a:t>
            </a:r>
            <a:endParaRPr lang="en-US" b="1" spc="-1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3051131" y="1738849"/>
            <a:ext cx="6852412" cy="3170099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Introduction</a:t>
            </a:r>
            <a:r>
              <a:rPr lang="en-US" sz="2700" spc="-30" dirty="0">
                <a:solidFill>
                  <a:srgbClr val="5D7C40"/>
                </a:solidFill>
                <a:latin typeface="Franklin Gothic Book"/>
                <a:cs typeface="Franklin Gothic Book"/>
              </a:rPr>
              <a:t> </a:t>
            </a: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&amp;</a:t>
            </a:r>
            <a:r>
              <a:rPr lang="en-US" sz="2700" spc="-85" dirty="0">
                <a:solidFill>
                  <a:srgbClr val="5D7C40"/>
                </a:solidFill>
                <a:latin typeface="Franklin Gothic Book"/>
                <a:cs typeface="Franklin Gothic Book"/>
              </a:rPr>
              <a:t> </a:t>
            </a:r>
            <a:r>
              <a:rPr lang="en-US" sz="2700" dirty="0" smtClean="0">
                <a:solidFill>
                  <a:srgbClr val="5D7C40"/>
                </a:solidFill>
                <a:latin typeface="Franklin Gothic Book"/>
                <a:cs typeface="Franklin Gothic Book"/>
              </a:rPr>
              <a:t>Objective</a:t>
            </a:r>
            <a:endParaRPr lang="en-US" sz="2700" dirty="0">
              <a:latin typeface="Franklin Gothic Book"/>
              <a:cs typeface="Franklin Gothic Book"/>
            </a:endParaRP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Data Overview </a:t>
            </a:r>
            <a:r>
              <a:rPr lang="en-US" sz="2700" dirty="0" smtClean="0">
                <a:solidFill>
                  <a:srgbClr val="5D7C40"/>
                </a:solidFill>
                <a:latin typeface="Franklin Gothic Book"/>
                <a:cs typeface="Franklin Gothic Book"/>
              </a:rPr>
              <a:t>&amp; </a:t>
            </a: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Methodology 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Key Findings (Data Story)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Strategic Recommendations </a:t>
            </a:r>
          </a:p>
          <a:p>
            <a:pPr marL="295910" indent="-283210">
              <a:spcBef>
                <a:spcPts val="1720"/>
              </a:spcBef>
              <a:buFont typeface="Arial"/>
              <a:buChar char="•"/>
              <a:tabLst>
                <a:tab pos="295910" algn="l"/>
              </a:tabLst>
            </a:pPr>
            <a:r>
              <a:rPr lang="en-US" sz="2700" dirty="0">
                <a:solidFill>
                  <a:srgbClr val="5D7C40"/>
                </a:solidFill>
                <a:latin typeface="Franklin Gothic Book"/>
                <a:cs typeface="Franklin Gothic Book"/>
              </a:rPr>
              <a:t>Conclusion &amp; Next Steps </a:t>
            </a:r>
          </a:p>
        </p:txBody>
      </p:sp>
    </p:spTree>
    <p:extLst>
      <p:ext uri="{BB962C8B-B14F-4D97-AF65-F5344CB8AC3E}">
        <p14:creationId xmlns:p14="http://schemas.microsoft.com/office/powerpoint/2010/main" val="176549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45321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Introduction</a:t>
            </a:r>
            <a:r>
              <a:rPr lang="en-US" spc="-30" dirty="0">
                <a:solidFill>
                  <a:srgbClr val="5D7C40"/>
                </a:solidFill>
                <a:latin typeface="Franklin Gothic Book"/>
                <a:cs typeface="Franklin Gothic Book"/>
              </a:rPr>
              <a:t> </a:t>
            </a: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&amp;</a:t>
            </a:r>
            <a:r>
              <a:rPr lang="en-US" spc="-85" dirty="0">
                <a:solidFill>
                  <a:srgbClr val="5D7C40"/>
                </a:solidFill>
                <a:latin typeface="Franklin Gothic Book"/>
                <a:cs typeface="Franklin Gothic Book"/>
              </a:rPr>
              <a:t> </a:t>
            </a: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Objective</a:t>
            </a:r>
            <a:endParaRPr lang="en-US" dirty="0">
              <a:latin typeface="Franklin Gothic Book"/>
              <a:cs typeface="Franklin Gothic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771" y="1162479"/>
            <a:ext cx="6503328" cy="3340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Analyse Namma Yatri ride data using Power BI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Understand demand patterns across time and zones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Identify key operational challenges (conversion &amp; cancellations)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/>
              <a:t>Provide data-driven recommendations to improve efficiency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9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Data Overview &amp; Methodology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43177" y="882109"/>
            <a:ext cx="6971351" cy="5771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r>
              <a:rPr lang="en-US" sz="2200" b="1" u="sng" dirty="0"/>
              <a:t>Dataset includes: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Trips, Trip Details, Location (From/To), Payment, Duration </a:t>
            </a:r>
          </a:p>
          <a:p>
            <a:r>
              <a:rPr lang="en-US" sz="2200" b="1" u="sng" dirty="0"/>
              <a:t>Key Metrics: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Searches (Demand), Trips, Revenue, Conversion Rate </a:t>
            </a:r>
          </a:p>
          <a:p>
            <a:r>
              <a:rPr lang="en-US" sz="2200" b="1" u="sng" dirty="0"/>
              <a:t>Methodology: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Used </a:t>
            </a:r>
            <a:r>
              <a:rPr lang="en-US" sz="2200" b="1" dirty="0"/>
              <a:t>Power BI for analysis and visualization</a:t>
            </a:r>
            <a:r>
              <a:rPr lang="en-US" sz="22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Built </a:t>
            </a:r>
            <a:r>
              <a:rPr lang="en-US" sz="2200" b="1" dirty="0"/>
              <a:t>star schema data model</a:t>
            </a:r>
            <a:r>
              <a:rPr lang="en-US" sz="2200" dirty="0"/>
              <a:t> </a:t>
            </a:r>
          </a:p>
          <a:p>
            <a:r>
              <a:rPr lang="en-US" sz="2200" b="1" u="sng" dirty="0"/>
              <a:t>Created measures: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Conversion Rate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Revenue 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Success &amp; Cancellation % </a:t>
            </a:r>
          </a:p>
          <a:p>
            <a:r>
              <a:rPr lang="en-US" sz="2200" b="1" u="sng" dirty="0" smtClean="0"/>
              <a:t>Analyzed </a:t>
            </a:r>
            <a:r>
              <a:rPr lang="en-US" sz="2200" b="1" u="sng" dirty="0"/>
              <a:t>patterns across: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Zones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Demand </a:t>
            </a:r>
            <a:r>
              <a:rPr lang="en-US" sz="2200" dirty="0" err="1" smtClean="0"/>
              <a:t>vs</a:t>
            </a:r>
            <a:r>
              <a:rPr lang="en-US" sz="2200" dirty="0" smtClean="0"/>
              <a:t> </a:t>
            </a:r>
            <a:r>
              <a:rPr lang="en-US" sz="2200" dirty="0"/>
              <a:t>Revenue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9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2815" y="0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Key </a:t>
            </a:r>
            <a:r>
              <a:rPr lang="en-US" dirty="0" smtClean="0">
                <a:solidFill>
                  <a:srgbClr val="5D7C40"/>
                </a:solidFill>
                <a:latin typeface="Franklin Gothic Book"/>
                <a:cs typeface="Franklin Gothic Book"/>
              </a:rPr>
              <a:t>Findings</a:t>
            </a:r>
            <a:endParaRPr lang="en-US" dirty="0">
              <a:solidFill>
                <a:srgbClr val="5D7C40"/>
              </a:solidFill>
              <a:latin typeface="Franklin Gothic Book"/>
              <a:cs typeface="Franklin Gothic Boo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391" y="763927"/>
            <a:ext cx="7946367" cy="5432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2200"/>
            </a:lvl1pPr>
            <a:lvl2pPr marL="742950" lvl="1" indent="-285750">
              <a:buFont typeface="Arial" panose="020B0604020202020204" pitchFamily="34" charset="0"/>
              <a:buChar char="•"/>
              <a:defRPr sz="2200"/>
            </a:lvl2pPr>
          </a:lstStyle>
          <a:p>
            <a:pPr marL="0" indent="0">
              <a:buNone/>
            </a:pPr>
            <a:r>
              <a:rPr lang="en-US" b="1" u="sng" dirty="0"/>
              <a:t>Demand Trends</a:t>
            </a:r>
          </a:p>
          <a:p>
            <a:pPr marL="0" indent="0">
              <a:buNone/>
            </a:pPr>
            <a:r>
              <a:rPr lang="en-US" dirty="0"/>
              <a:t>Peak </a:t>
            </a:r>
            <a:r>
              <a:rPr lang="en-US" dirty="0"/>
              <a:t>demand observed at: </a:t>
            </a:r>
          </a:p>
          <a:p>
            <a:pPr lvl="1"/>
            <a:r>
              <a:rPr lang="en-US" dirty="0"/>
              <a:t>0–1 (~50 searches) </a:t>
            </a:r>
          </a:p>
          <a:p>
            <a:pPr lvl="1"/>
            <a:r>
              <a:rPr lang="en-US" dirty="0"/>
              <a:t>6–8 (~45–50 searches) </a:t>
            </a:r>
          </a:p>
          <a:p>
            <a:pPr lvl="1"/>
            <a:r>
              <a:rPr lang="en-US" dirty="0"/>
              <a:t>13–15 (~50+ searches) </a:t>
            </a:r>
          </a:p>
          <a:p>
            <a:pPr lvl="1"/>
            <a:r>
              <a:rPr lang="en-US" dirty="0"/>
              <a:t>22–23 (~48 searches) </a:t>
            </a:r>
          </a:p>
          <a:p>
            <a:pPr marL="0" indent="0">
              <a:buNone/>
            </a:pPr>
            <a:r>
              <a:rPr lang="en-US" dirty="0"/>
              <a:t>Demand </a:t>
            </a:r>
            <a:r>
              <a:rPr lang="en-US" dirty="0"/>
              <a:t>follows time-based commute </a:t>
            </a:r>
            <a:r>
              <a:rPr lang="en-US" dirty="0" smtClean="0"/>
              <a:t>pattern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Demand </a:t>
            </a:r>
            <a:r>
              <a:rPr lang="en-US" b="1" u="sng" dirty="0" err="1"/>
              <a:t>vs</a:t>
            </a:r>
            <a:r>
              <a:rPr lang="en-US" b="1" u="sng" dirty="0"/>
              <a:t> Revenue</a:t>
            </a:r>
          </a:p>
          <a:p>
            <a:pPr lvl="1"/>
            <a:r>
              <a:rPr lang="en-US" dirty="0"/>
              <a:t>Positive correlation between demand and revenue </a:t>
            </a:r>
          </a:p>
          <a:p>
            <a:pPr lvl="1"/>
            <a:r>
              <a:rPr lang="en-US" dirty="0"/>
              <a:t>Not perfectly aligned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Revenue </a:t>
            </a:r>
            <a:r>
              <a:rPr lang="en-US" b="1" u="sng" dirty="0"/>
              <a:t>influenced by:</a:t>
            </a:r>
          </a:p>
          <a:p>
            <a:pPr lvl="1"/>
            <a:r>
              <a:rPr lang="en-US" dirty="0"/>
              <a:t>Trip distance </a:t>
            </a:r>
          </a:p>
          <a:p>
            <a:pPr lvl="1"/>
            <a:r>
              <a:rPr lang="en-US" dirty="0"/>
              <a:t>Pricing strategy </a:t>
            </a:r>
          </a:p>
          <a:p>
            <a:pPr lvl="1"/>
            <a:r>
              <a:rPr lang="en-US" dirty="0"/>
              <a:t>Surge </a:t>
            </a:r>
            <a:r>
              <a:rPr lang="en-US" dirty="0"/>
              <a:t>pricing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1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59536" y="640080"/>
            <a:ext cx="10442448" cy="488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7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7951" y="0"/>
            <a:ext cx="8605520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Key Findings – Zone 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27329" y="1258121"/>
            <a:ext cx="7856142" cy="5094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2200"/>
            </a:lvl1pPr>
            <a:lvl2pPr marL="742950" lvl="1" indent="-285750">
              <a:buFont typeface="Arial" panose="020B0604020202020204" pitchFamily="34" charset="0"/>
              <a:buChar char="•"/>
              <a:defRPr sz="2200"/>
            </a:lvl2pPr>
          </a:lstStyle>
          <a:p>
            <a:r>
              <a:rPr lang="en-US" dirty="0"/>
              <a:t>Top </a:t>
            </a:r>
            <a:r>
              <a:rPr lang="en-US" dirty="0"/>
              <a:t>Demand Zones:</a:t>
            </a:r>
          </a:p>
          <a:p>
            <a:pPr lvl="1"/>
            <a:r>
              <a:rPr lang="en-US" dirty="0" err="1"/>
              <a:t>Ramanagaram</a:t>
            </a:r>
            <a:r>
              <a:rPr lang="en-US" dirty="0"/>
              <a:t> (~39 trips) </a:t>
            </a:r>
          </a:p>
          <a:p>
            <a:pPr lvl="1"/>
            <a:r>
              <a:rPr lang="en-US" dirty="0" err="1"/>
              <a:t>Yeshwanthpur</a:t>
            </a:r>
            <a:r>
              <a:rPr lang="en-US" dirty="0"/>
              <a:t> (~36 trips) </a:t>
            </a:r>
          </a:p>
          <a:p>
            <a:pPr lvl="1"/>
            <a:r>
              <a:rPr lang="en-US" dirty="0"/>
              <a:t>Bangalore South (~33 trips) </a:t>
            </a:r>
          </a:p>
          <a:p>
            <a:r>
              <a:rPr lang="en-US" dirty="0"/>
              <a:t>Top Revenue Zones:</a:t>
            </a:r>
          </a:p>
          <a:p>
            <a:pPr lvl="1"/>
            <a:r>
              <a:rPr lang="en-US" dirty="0"/>
              <a:t>Bangalore South (~30K) </a:t>
            </a:r>
          </a:p>
          <a:p>
            <a:pPr lvl="1"/>
            <a:r>
              <a:rPr lang="en-US" dirty="0" err="1"/>
              <a:t>Yeshwanthpur</a:t>
            </a:r>
            <a:r>
              <a:rPr lang="en-US" dirty="0"/>
              <a:t> (~29K) </a:t>
            </a:r>
          </a:p>
          <a:p>
            <a:r>
              <a:rPr lang="en-US" dirty="0"/>
              <a:t>High </a:t>
            </a:r>
            <a:r>
              <a:rPr lang="en-US" dirty="0"/>
              <a:t>demand does not always mean high </a:t>
            </a:r>
            <a:r>
              <a:rPr lang="en-US" dirty="0"/>
              <a:t>revenue</a:t>
            </a:r>
          </a:p>
          <a:p>
            <a:endParaRPr lang="en-US" dirty="0"/>
          </a:p>
          <a:p>
            <a:r>
              <a:rPr lang="en-US" dirty="0"/>
              <a:t>Conversion &amp; </a:t>
            </a:r>
            <a:r>
              <a:rPr lang="en-US" dirty="0"/>
              <a:t>Cancellation</a:t>
            </a:r>
            <a:endParaRPr lang="en-US" dirty="0"/>
          </a:p>
          <a:p>
            <a:pPr lvl="1"/>
            <a:r>
              <a:rPr lang="en-US" dirty="0"/>
              <a:t>Conversion Rate = 45% </a:t>
            </a:r>
          </a:p>
          <a:p>
            <a:pPr lvl="1"/>
            <a:r>
              <a:rPr lang="en-US" dirty="0"/>
              <a:t>Customer Cancellation = 48.17% </a:t>
            </a:r>
          </a:p>
          <a:p>
            <a:pPr lvl="1"/>
            <a:r>
              <a:rPr lang="en-US" dirty="0"/>
              <a:t>Driver Cancellation = 47.25% </a:t>
            </a:r>
          </a:p>
          <a:p>
            <a:r>
              <a:rPr lang="en-US" dirty="0"/>
              <a:t>Nearly 1 in 2 rides gets cancelled</a:t>
            </a:r>
            <a:br>
              <a:rPr lang="en-US" dirty="0"/>
            </a:br>
            <a:r>
              <a:rPr lang="en-US" dirty="0"/>
              <a:t>Indicates major operational </a:t>
            </a:r>
            <a:r>
              <a:rPr lang="en-US" dirty="0"/>
              <a:t>inefficiency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98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7" y="415047"/>
            <a:ext cx="11686099" cy="56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6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98" y="418012"/>
            <a:ext cx="11592837" cy="560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0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2608" y="0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Key Findings Summary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026159" y="1471612"/>
            <a:ext cx="8119872" cy="167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Demand </a:t>
            </a:r>
            <a:r>
              <a:rPr lang="en-US" sz="2700" dirty="0"/>
              <a:t>is time and zone dependent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Conversion is low (45%)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Cancellation is high (~48%)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Revenue depends on pricing and distance </a:t>
            </a:r>
          </a:p>
        </p:txBody>
      </p:sp>
    </p:spTree>
    <p:extLst>
      <p:ext uri="{BB962C8B-B14F-4D97-AF65-F5344CB8AC3E}">
        <p14:creationId xmlns:p14="http://schemas.microsoft.com/office/powerpoint/2010/main" val="188829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2608" y="300813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Strategic Recommendations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59223" y="1190389"/>
            <a:ext cx="8119872" cy="4632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r>
              <a:rPr lang="en-US" sz="2500" b="1" u="sng" dirty="0"/>
              <a:t>Improve </a:t>
            </a:r>
            <a:r>
              <a:rPr lang="en-US" sz="2500" b="1" u="sng" dirty="0" smtClean="0"/>
              <a:t>Conversion</a:t>
            </a:r>
          </a:p>
          <a:p>
            <a:endParaRPr lang="en-US" sz="2500" b="1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Show accurate ETA and fare estimates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Improve driver availability during peak hours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Retarget users who drop after search </a:t>
            </a:r>
          </a:p>
          <a:p>
            <a:r>
              <a:rPr lang="en-US" sz="2500" dirty="0"/>
              <a:t>👉 Conversion can improve from 45% → 55</a:t>
            </a:r>
            <a:r>
              <a:rPr lang="en-US" sz="2500" dirty="0"/>
              <a:t>%+</a:t>
            </a:r>
            <a:endParaRPr lang="en-US" sz="2500" dirty="0"/>
          </a:p>
          <a:p>
            <a:endParaRPr lang="en-US" sz="2500" dirty="0"/>
          </a:p>
          <a:p>
            <a:r>
              <a:rPr lang="en-US" sz="2500" b="1" u="sng" dirty="0" smtClean="0"/>
              <a:t>Reduce </a:t>
            </a:r>
            <a:r>
              <a:rPr lang="en-US" sz="2500" b="1" u="sng" dirty="0"/>
              <a:t>Cancellations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Customer: </a:t>
            </a:r>
            <a:r>
              <a:rPr lang="en-US" sz="2500" dirty="0"/>
              <a:t>Introduce </a:t>
            </a:r>
            <a:r>
              <a:rPr lang="en-US" sz="2500" dirty="0"/>
              <a:t>cancellation penalties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/>
              <a:t>Driver: </a:t>
            </a:r>
            <a:r>
              <a:rPr lang="en-US" sz="2500" dirty="0"/>
              <a:t>Incentives </a:t>
            </a:r>
            <a:r>
              <a:rPr lang="en-US" sz="2500" dirty="0"/>
              <a:t>for ride completion </a:t>
            </a:r>
            <a:endParaRPr lang="en-US" sz="2500" dirty="0"/>
          </a:p>
          <a:p>
            <a:r>
              <a:rPr lang="en-US" sz="2500" dirty="0"/>
              <a:t>👉 </a:t>
            </a:r>
            <a:r>
              <a:rPr lang="en-US" sz="2500" dirty="0"/>
              <a:t>Can reduce cancellations by 10–15</a:t>
            </a:r>
            <a:r>
              <a:rPr lang="en-US" sz="2500" dirty="0"/>
              <a:t>%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62276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2608" y="121505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Strategic Recommendations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026159" y="908072"/>
            <a:ext cx="8119872" cy="55560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r>
              <a:rPr lang="en-US" sz="2400" b="1" u="sng" dirty="0" smtClean="0"/>
              <a:t>Optimize Supply</a:t>
            </a:r>
          </a:p>
          <a:p>
            <a:r>
              <a:rPr lang="en-US" sz="2400" dirty="0" smtClean="0"/>
              <a:t>Focus </a:t>
            </a:r>
            <a:r>
              <a:rPr lang="en-US" sz="2400" dirty="0"/>
              <a:t>on peak hours: </a:t>
            </a:r>
            <a:r>
              <a:rPr lang="en-US" sz="2400" dirty="0"/>
              <a:t>0–1</a:t>
            </a:r>
            <a:r>
              <a:rPr lang="en-US" sz="2400" dirty="0"/>
              <a:t>, 6–8, 13–15, 22–23 </a:t>
            </a:r>
          </a:p>
          <a:p>
            <a:r>
              <a:rPr lang="en-US" sz="2400" dirty="0" smtClean="0"/>
              <a:t>👉 Increase </a:t>
            </a:r>
            <a:r>
              <a:rPr lang="en-US" sz="2400" dirty="0"/>
              <a:t>supply and provide </a:t>
            </a:r>
            <a:r>
              <a:rPr lang="en-US" sz="2400" dirty="0" smtClean="0"/>
              <a:t>incentives</a:t>
            </a:r>
          </a:p>
          <a:p>
            <a:endParaRPr lang="en-US" sz="2400" dirty="0"/>
          </a:p>
          <a:p>
            <a:r>
              <a:rPr lang="en-US" sz="2400" b="1" u="sng" dirty="0"/>
              <a:t>Zone Focus</a:t>
            </a:r>
            <a:endParaRPr lang="en-US" sz="2400" b="1" u="sng" dirty="0"/>
          </a:p>
          <a:p>
            <a:r>
              <a:rPr lang="en-US" sz="2400" dirty="0" smtClean="0"/>
              <a:t>Focus </a:t>
            </a:r>
            <a:r>
              <a:rPr lang="en-US" sz="2400" dirty="0"/>
              <a:t>on High-Performing Zones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Ramanagaram</a:t>
            </a:r>
            <a:r>
              <a:rPr lang="en-US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Yeshwanthpur</a:t>
            </a:r>
            <a:r>
              <a:rPr lang="en-US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Bangalore South </a:t>
            </a:r>
          </a:p>
          <a:p>
            <a:r>
              <a:rPr lang="en-US" sz="2400" dirty="0"/>
              <a:t>👉 Prioritize driver allocation in these </a:t>
            </a:r>
            <a:r>
              <a:rPr lang="en-US" sz="2400" dirty="0" smtClean="0"/>
              <a:t>zones</a:t>
            </a:r>
          </a:p>
          <a:p>
            <a:endParaRPr lang="en-US" sz="2400" dirty="0"/>
          </a:p>
          <a:p>
            <a:r>
              <a:rPr lang="en-US" sz="2400" b="1" u="sng" dirty="0"/>
              <a:t>Pricing &amp; </a:t>
            </a:r>
            <a:r>
              <a:rPr lang="en-US" sz="2400" b="1" u="sng" dirty="0"/>
              <a:t>Demand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Use micro-surge pricing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Offer discounts during: </a:t>
            </a:r>
            <a:r>
              <a:rPr lang="en-US" sz="2400" dirty="0"/>
              <a:t>8–9 , 21–22 </a:t>
            </a:r>
            <a:endParaRPr lang="en-US" sz="2400" dirty="0" smtClean="0"/>
          </a:p>
          <a:p>
            <a:r>
              <a:rPr lang="en-US" sz="2400" dirty="0" smtClean="0"/>
              <a:t>👉 </a:t>
            </a:r>
            <a:r>
              <a:rPr lang="en-US" sz="2400" dirty="0"/>
              <a:t>Improve conversion and </a:t>
            </a:r>
            <a:r>
              <a:rPr lang="en-US" sz="2400" dirty="0"/>
              <a:t>utilization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610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373" y="60753"/>
            <a:ext cx="9586975" cy="763927"/>
          </a:xfrm>
          <a:prstGeom prst="rect">
            <a:avLst/>
          </a:prstGeom>
        </p:spPr>
        <p:txBody>
          <a:bodyPr vert="horz" wrap="square" lIns="0" tIns="153035" rIns="0" bIns="0" rtlCol="0" anchor="ctr">
            <a:spAutoFit/>
          </a:bodyPr>
          <a:lstStyle/>
          <a:p>
            <a:pPr marL="12700">
              <a:spcBef>
                <a:spcPts val="1720"/>
              </a:spcBef>
              <a:tabLst>
                <a:tab pos="295910" algn="l"/>
              </a:tabLst>
            </a:pPr>
            <a:r>
              <a:rPr lang="en-US" dirty="0">
                <a:solidFill>
                  <a:srgbClr val="5D7C40"/>
                </a:solidFill>
                <a:latin typeface="Franklin Gothic Book"/>
                <a:cs typeface="Franklin Gothic Book"/>
              </a:rPr>
              <a:t>Conclusion &amp; Next Steps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4611" y="0"/>
            <a:ext cx="1437389" cy="1471612"/>
          </a:xfrm>
          <a:prstGeom prst="rect">
            <a:avLst/>
          </a:prstGeom>
        </p:spPr>
      </p:pic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688373" y="1181732"/>
            <a:ext cx="8119872" cy="47250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r>
              <a:rPr lang="en-US" sz="2200" b="1" u="sng" dirty="0"/>
              <a:t>Conclusion</a:t>
            </a:r>
            <a:r>
              <a:rPr lang="en-US" sz="2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High </a:t>
            </a:r>
            <a:r>
              <a:rPr lang="en-US" sz="2200" dirty="0"/>
              <a:t>demand exists (50+ searches in peak hours)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But: </a:t>
            </a:r>
          </a:p>
          <a:p>
            <a:pPr lvl="2"/>
            <a:r>
              <a:rPr lang="en-US" dirty="0"/>
              <a:t>Conversion is low (45%) </a:t>
            </a:r>
          </a:p>
          <a:p>
            <a:pPr lvl="2"/>
            <a:r>
              <a:rPr lang="en-US" dirty="0"/>
              <a:t>Cancellations are high (~48%) </a:t>
            </a:r>
          </a:p>
          <a:p>
            <a:r>
              <a:rPr lang="en-US" sz="2200" dirty="0"/>
              <a:t>👉 Core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Demand-supply </a:t>
            </a:r>
            <a:r>
              <a:rPr lang="en-US" sz="2200" dirty="0"/>
              <a:t>mismatch</a:t>
            </a:r>
            <a:endParaRPr lang="en-US" sz="2200" dirty="0"/>
          </a:p>
          <a:p>
            <a:endParaRPr lang="en-US" sz="2200" b="1" u="sng" dirty="0" smtClean="0"/>
          </a:p>
          <a:p>
            <a:r>
              <a:rPr lang="en-US" sz="2200" b="1" u="sng" dirty="0" smtClean="0"/>
              <a:t>Next </a:t>
            </a:r>
            <a:r>
              <a:rPr lang="en-US" sz="2200" b="1" u="sng" dirty="0"/>
              <a:t>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Pilot strategies in: </a:t>
            </a:r>
          </a:p>
          <a:p>
            <a:pPr lvl="2"/>
            <a:r>
              <a:rPr lang="en-US" dirty="0"/>
              <a:t>High-demand zones (</a:t>
            </a:r>
            <a:r>
              <a:rPr lang="en-US" dirty="0" err="1"/>
              <a:t>Ramanagaram</a:t>
            </a:r>
            <a:r>
              <a:rPr lang="en-US" dirty="0"/>
              <a:t>, </a:t>
            </a:r>
            <a:r>
              <a:rPr lang="en-US" dirty="0" err="1"/>
              <a:t>Yeshwanthpur</a:t>
            </a:r>
            <a:r>
              <a:rPr lang="en-US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Focus on: </a:t>
            </a:r>
          </a:p>
          <a:p>
            <a:pPr lvl="2"/>
            <a:r>
              <a:rPr lang="en-US" dirty="0"/>
              <a:t>Peak hours </a:t>
            </a:r>
          </a:p>
          <a:p>
            <a:pPr lvl="2"/>
            <a:r>
              <a:rPr lang="en-US" dirty="0"/>
              <a:t>Driver allocation </a:t>
            </a:r>
          </a:p>
          <a:p>
            <a:pPr lvl="2"/>
            <a:r>
              <a:rPr lang="en-US" dirty="0"/>
              <a:t>Pricing optimization </a:t>
            </a:r>
          </a:p>
        </p:txBody>
      </p:sp>
    </p:spTree>
    <p:extLst>
      <p:ext uri="{BB962C8B-B14F-4D97-AF65-F5344CB8AC3E}">
        <p14:creationId xmlns:p14="http://schemas.microsoft.com/office/powerpoint/2010/main" val="306605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0525" y="97027"/>
            <a:ext cx="6096000" cy="6094730"/>
            <a:chOff x="4200525" y="97027"/>
            <a:chExt cx="6096000" cy="6094730"/>
          </a:xfrm>
        </p:grpSpPr>
        <p:sp>
          <p:nvSpPr>
            <p:cNvPr id="3" name="object 3"/>
            <p:cNvSpPr/>
            <p:nvPr/>
          </p:nvSpPr>
          <p:spPr>
            <a:xfrm>
              <a:off x="7229475" y="2095500"/>
              <a:ext cx="3067050" cy="4095750"/>
            </a:xfrm>
            <a:custGeom>
              <a:avLst/>
              <a:gdLst/>
              <a:ahLst/>
              <a:cxnLst/>
              <a:rect l="l" t="t" r="r" b="b"/>
              <a:pathLst>
                <a:path w="3067050" h="4095750">
                  <a:moveTo>
                    <a:pt x="1023493" y="0"/>
                  </a:moveTo>
                  <a:lnTo>
                    <a:pt x="0" y="1024763"/>
                  </a:lnTo>
                  <a:lnTo>
                    <a:pt x="3067050" y="4095750"/>
                  </a:lnTo>
                  <a:lnTo>
                    <a:pt x="3067050" y="2046097"/>
                  </a:lnTo>
                  <a:lnTo>
                    <a:pt x="1023493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307451" y="97027"/>
              <a:ext cx="1989455" cy="1998980"/>
            </a:xfrm>
            <a:custGeom>
              <a:avLst/>
              <a:gdLst/>
              <a:ahLst/>
              <a:cxnLst/>
              <a:rect l="l" t="t" r="r" b="b"/>
              <a:pathLst>
                <a:path w="1989454" h="1998980">
                  <a:moveTo>
                    <a:pt x="1989074" y="0"/>
                  </a:moveTo>
                  <a:lnTo>
                    <a:pt x="0" y="0"/>
                  </a:lnTo>
                  <a:lnTo>
                    <a:pt x="1989074" y="1998472"/>
                  </a:lnTo>
                  <a:lnTo>
                    <a:pt x="1989074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00525" y="97027"/>
              <a:ext cx="4000500" cy="1998980"/>
            </a:xfrm>
            <a:custGeom>
              <a:avLst/>
              <a:gdLst/>
              <a:ahLst/>
              <a:cxnLst/>
              <a:rect l="l" t="t" r="r" b="b"/>
              <a:pathLst>
                <a:path w="4000500" h="1998980">
                  <a:moveTo>
                    <a:pt x="4000500" y="0"/>
                  </a:moveTo>
                  <a:lnTo>
                    <a:pt x="0" y="0"/>
                  </a:lnTo>
                  <a:lnTo>
                    <a:pt x="1999361" y="1998472"/>
                  </a:lnTo>
                  <a:lnTo>
                    <a:pt x="4000500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595312" y="3957701"/>
            <a:ext cx="2134235" cy="4445"/>
          </a:xfrm>
          <a:custGeom>
            <a:avLst/>
            <a:gdLst/>
            <a:ahLst/>
            <a:cxnLst/>
            <a:rect l="l" t="t" r="r" b="b"/>
            <a:pathLst>
              <a:path w="2134235" h="4445">
                <a:moveTo>
                  <a:pt x="0" y="0"/>
                </a:moveTo>
                <a:lnTo>
                  <a:pt x="2133663" y="3937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77" y="2752978"/>
            <a:ext cx="3503295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spc="65" dirty="0"/>
              <a:t>Thank</a:t>
            </a:r>
            <a:r>
              <a:rPr sz="6000" spc="275" dirty="0"/>
              <a:t> </a:t>
            </a:r>
            <a:r>
              <a:rPr sz="6000" spc="-25" dirty="0"/>
              <a:t>you</a:t>
            </a:r>
            <a:endParaRPr sz="6000"/>
          </a:p>
        </p:txBody>
      </p:sp>
    </p:spTree>
    <p:extLst>
      <p:ext uri="{BB962C8B-B14F-4D97-AF65-F5344CB8AC3E}">
        <p14:creationId xmlns:p14="http://schemas.microsoft.com/office/powerpoint/2010/main" val="145501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3892</TotalTime>
  <Words>470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Franklin Gothic Book</vt:lpstr>
      <vt:lpstr>Franklin Gothic Demi</vt:lpstr>
      <vt:lpstr>Trebuchet MS</vt:lpstr>
      <vt:lpstr>Wingdings 3</vt:lpstr>
      <vt:lpstr>Facet</vt:lpstr>
      <vt:lpstr>PowerPoint Presentation</vt:lpstr>
      <vt:lpstr>PowerPoint Presentation</vt:lpstr>
      <vt:lpstr>Introduction &amp; Objective</vt:lpstr>
      <vt:lpstr>Data Overview &amp; Methodology</vt:lpstr>
      <vt:lpstr>Key Findings</vt:lpstr>
      <vt:lpstr>PowerPoint Presentation</vt:lpstr>
      <vt:lpstr>Key Findings – Zone Analysis</vt:lpstr>
      <vt:lpstr>PowerPoint Presentation</vt:lpstr>
      <vt:lpstr>PowerPoint Presentation</vt:lpstr>
      <vt:lpstr>Key Findings Summary</vt:lpstr>
      <vt:lpstr>Strategic Recommendations </vt:lpstr>
      <vt:lpstr>Strategic Recommendations </vt:lpstr>
      <vt:lpstr>Conclusion &amp; Next Steps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27</cp:revision>
  <dcterms:created xsi:type="dcterms:W3CDTF">2026-05-01T05:45:59Z</dcterms:created>
  <dcterms:modified xsi:type="dcterms:W3CDTF">2026-05-05T18:00:37Z</dcterms:modified>
</cp:coreProperties>
</file>