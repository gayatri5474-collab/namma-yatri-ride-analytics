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0" r:id="rId4"/>
    <p:sldId id="288" r:id="rId5"/>
    <p:sldId id="289" r:id="rId6"/>
    <p:sldId id="298" r:id="rId7"/>
    <p:sldId id="297" r:id="rId8"/>
    <p:sldId id="291" r:id="rId9"/>
    <p:sldId id="293" r:id="rId10"/>
    <p:sldId id="294" r:id="rId11"/>
    <p:sldId id="295" r:id="rId12"/>
    <p:sldId id="296" r:id="rId13"/>
    <p:sldId id="28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97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5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25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38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303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51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400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21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6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880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9350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98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9767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44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446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775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996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/>
          <p:nvPr/>
        </p:nvSpPr>
        <p:spPr>
          <a:xfrm>
            <a:off x="888639" y="332038"/>
            <a:ext cx="8438242" cy="28110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29539" rIns="0" bIns="0" rtlCol="0">
            <a:spAutoFit/>
          </a:bodyPr>
          <a:lstStyle/>
          <a:p>
            <a:pPr marL="562610" marR="573405" algn="ctr">
              <a:lnSpc>
                <a:spcPts val="2710"/>
              </a:lnSpc>
              <a:spcBef>
                <a:spcPts val="1019"/>
              </a:spcBef>
            </a:pPr>
            <a:r>
              <a:rPr sz="2750" spc="100" dirty="0">
                <a:latin typeface="Franklin Gothic Demi"/>
                <a:cs typeface="Franklin Gothic Demi"/>
              </a:rPr>
              <a:t>Namma</a:t>
            </a:r>
            <a:r>
              <a:rPr sz="2750" spc="280" dirty="0">
                <a:latin typeface="Franklin Gothic Demi"/>
                <a:cs typeface="Franklin Gothic Demi"/>
              </a:rPr>
              <a:t> </a:t>
            </a:r>
            <a:r>
              <a:rPr sz="2750" spc="65" dirty="0">
                <a:latin typeface="Franklin Gothic Demi"/>
                <a:cs typeface="Franklin Gothic Demi"/>
              </a:rPr>
              <a:t>Yatri:</a:t>
            </a:r>
            <a:r>
              <a:rPr sz="2750" spc="254" dirty="0">
                <a:latin typeface="Franklin Gothic Demi"/>
                <a:cs typeface="Franklin Gothic Demi"/>
              </a:rPr>
              <a:t> </a:t>
            </a:r>
            <a:r>
              <a:rPr lang="en-US" sz="2750" spc="100" dirty="0">
                <a:latin typeface="Franklin Gothic Demi"/>
                <a:cs typeface="Franklin Gothic Demi"/>
              </a:rPr>
              <a:t>Operational Performance &amp; Strategy </a:t>
            </a:r>
            <a:r>
              <a:rPr lang="en-US" sz="2750" spc="100" dirty="0" smtClean="0">
                <a:latin typeface="Franklin Gothic Demi"/>
                <a:cs typeface="Franklin Gothic Demi"/>
              </a:rPr>
              <a:t>Insights</a:t>
            </a:r>
          </a:p>
          <a:p>
            <a:pPr marL="562610" marR="573405" algn="ctr">
              <a:lnSpc>
                <a:spcPts val="2710"/>
              </a:lnSpc>
              <a:spcBef>
                <a:spcPts val="1019"/>
              </a:spcBef>
            </a:pPr>
            <a:r>
              <a:rPr sz="2750" dirty="0" smtClean="0">
                <a:latin typeface="Franklin Gothic Demi"/>
                <a:cs typeface="Franklin Gothic Demi"/>
              </a:rPr>
              <a:t>A</a:t>
            </a:r>
            <a:r>
              <a:rPr sz="2750" spc="245" dirty="0" smtClean="0">
                <a:latin typeface="Franklin Gothic Demi"/>
                <a:cs typeface="Franklin Gothic Demi"/>
              </a:rPr>
              <a:t> </a:t>
            </a:r>
            <a:r>
              <a:rPr sz="2750" spc="85" dirty="0">
                <a:latin typeface="Franklin Gothic Demi"/>
                <a:cs typeface="Franklin Gothic Demi"/>
              </a:rPr>
              <a:t>Report</a:t>
            </a:r>
            <a:r>
              <a:rPr sz="2750" spc="215" dirty="0">
                <a:latin typeface="Franklin Gothic Demi"/>
                <a:cs typeface="Franklin Gothic Demi"/>
              </a:rPr>
              <a:t> </a:t>
            </a:r>
            <a:r>
              <a:rPr sz="2750" spc="80" dirty="0">
                <a:latin typeface="Franklin Gothic Demi"/>
                <a:cs typeface="Franklin Gothic Demi"/>
              </a:rPr>
              <a:t>on</a:t>
            </a:r>
            <a:r>
              <a:rPr sz="2750" spc="190" dirty="0">
                <a:latin typeface="Franklin Gothic Demi"/>
                <a:cs typeface="Franklin Gothic Demi"/>
              </a:rPr>
              <a:t> </a:t>
            </a:r>
            <a:r>
              <a:rPr sz="2750" spc="110" dirty="0">
                <a:latin typeface="Franklin Gothic Demi"/>
                <a:cs typeface="Franklin Gothic Demi"/>
              </a:rPr>
              <a:t>Visualisation</a:t>
            </a:r>
            <a:r>
              <a:rPr sz="2750" spc="195" dirty="0">
                <a:latin typeface="Franklin Gothic Demi"/>
                <a:cs typeface="Franklin Gothic Demi"/>
              </a:rPr>
              <a:t> </a:t>
            </a:r>
            <a:r>
              <a:rPr sz="2750" spc="95" dirty="0">
                <a:latin typeface="Franklin Gothic Demi"/>
                <a:cs typeface="Franklin Gothic Demi"/>
              </a:rPr>
              <a:t>and</a:t>
            </a:r>
            <a:r>
              <a:rPr sz="2750" spc="220" dirty="0">
                <a:latin typeface="Franklin Gothic Demi"/>
                <a:cs typeface="Franklin Gothic Demi"/>
              </a:rPr>
              <a:t> </a:t>
            </a:r>
            <a:r>
              <a:rPr sz="2750" spc="90" dirty="0">
                <a:latin typeface="Franklin Gothic Demi"/>
                <a:cs typeface="Franklin Gothic Demi"/>
              </a:rPr>
              <a:t>Analysis </a:t>
            </a:r>
            <a:r>
              <a:rPr lang="en-US" sz="2750" spc="90" dirty="0" smtClean="0">
                <a:latin typeface="Franklin Gothic Demi"/>
                <a:cs typeface="Franklin Gothic Demi"/>
              </a:rPr>
              <a:t>Based on Power BI Analysis                                                  (By Gayatri Behera)    </a:t>
            </a:r>
          </a:p>
          <a:p>
            <a:pPr marL="562610" marR="573405" algn="ctr">
              <a:lnSpc>
                <a:spcPts val="2710"/>
              </a:lnSpc>
              <a:spcBef>
                <a:spcPts val="1019"/>
              </a:spcBef>
            </a:pPr>
            <a:r>
              <a:rPr lang="en-US" sz="2750" spc="90" dirty="0" smtClean="0">
                <a:latin typeface="Franklin Gothic Demi"/>
                <a:cs typeface="Franklin Gothic Demi"/>
              </a:rPr>
              <a:t>                                                                    </a:t>
            </a:r>
            <a:r>
              <a:rPr sz="2750" spc="95" dirty="0" smtClean="0">
                <a:latin typeface="Franklin Gothic Demi"/>
                <a:cs typeface="Franklin Gothic Demi"/>
              </a:rPr>
              <a:t>Presented</a:t>
            </a:r>
            <a:r>
              <a:rPr sz="2750" spc="215" dirty="0" smtClean="0">
                <a:latin typeface="Franklin Gothic Demi"/>
                <a:cs typeface="Franklin Gothic Demi"/>
              </a:rPr>
              <a:t> </a:t>
            </a:r>
            <a:r>
              <a:rPr sz="2750" spc="75" dirty="0">
                <a:latin typeface="Franklin Gothic Demi"/>
                <a:cs typeface="Franklin Gothic Demi"/>
              </a:rPr>
              <a:t>to:</a:t>
            </a:r>
            <a:r>
              <a:rPr sz="2750" spc="250" dirty="0">
                <a:latin typeface="Franklin Gothic Demi"/>
                <a:cs typeface="Franklin Gothic Demi"/>
              </a:rPr>
              <a:t> </a:t>
            </a:r>
            <a:r>
              <a:rPr lang="en-US" sz="2750" spc="80" dirty="0" smtClean="0">
                <a:latin typeface="Franklin Gothic Demi"/>
                <a:cs typeface="Franklin Gothic Demi"/>
              </a:rPr>
              <a:t>Management</a:t>
            </a:r>
            <a:r>
              <a:rPr sz="2750" spc="229" dirty="0" smtClean="0">
                <a:latin typeface="Franklin Gothic Demi"/>
                <a:cs typeface="Franklin Gothic Demi"/>
              </a:rPr>
              <a:t> </a:t>
            </a:r>
            <a:r>
              <a:rPr sz="2750" spc="95" dirty="0">
                <a:latin typeface="Franklin Gothic Demi"/>
                <a:cs typeface="Franklin Gothic Demi"/>
              </a:rPr>
              <a:t>Leadership</a:t>
            </a:r>
            <a:endParaRPr sz="2750" dirty="0">
              <a:latin typeface="Franklin Gothic Demi"/>
              <a:cs typeface="Franklin Gothic Demi"/>
            </a:endParaRPr>
          </a:p>
        </p:txBody>
      </p:sp>
      <p:pic>
        <p:nvPicPr>
          <p:cNvPr id="6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5944" y="3926392"/>
            <a:ext cx="3691025" cy="206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52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8"/>
          <p:cNvSpPr/>
          <p:nvPr/>
        </p:nvSpPr>
        <p:spPr>
          <a:xfrm>
            <a:off x="3341370" y="1158145"/>
            <a:ext cx="2131060" cy="0"/>
          </a:xfrm>
          <a:custGeom>
            <a:avLst/>
            <a:gdLst/>
            <a:ahLst/>
            <a:cxnLst/>
            <a:rect l="l" t="t" r="r" b="b"/>
            <a:pathLst>
              <a:path w="2131060">
                <a:moveTo>
                  <a:pt x="0" y="0"/>
                </a:moveTo>
                <a:lnTo>
                  <a:pt x="2130615" y="0"/>
                </a:lnTo>
              </a:path>
            </a:pathLst>
          </a:custGeom>
          <a:ln w="101600">
            <a:solidFill>
              <a:srgbClr val="5D7C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9"/>
          <p:cNvSpPr txBox="1">
            <a:spLocks/>
          </p:cNvSpPr>
          <p:nvPr/>
        </p:nvSpPr>
        <p:spPr>
          <a:xfrm>
            <a:off x="3328035" y="-785019"/>
            <a:ext cx="9334182" cy="1570037"/>
          </a:xfrm>
          <a:prstGeom prst="rect">
            <a:avLst/>
          </a:prstGeom>
        </p:spPr>
        <p:txBody>
          <a:bodyPr vert="horz" wrap="square" lIns="0" tIns="885507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b="1" spc="-10" dirty="0" smtClean="0"/>
              <a:t>Agenda</a:t>
            </a:r>
            <a:endParaRPr lang="en-US" b="1" spc="-1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611" y="0"/>
            <a:ext cx="1437389" cy="1471612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173095" y="1360045"/>
            <a:ext cx="4222374" cy="4219104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295910" indent="-283210">
              <a:spcBef>
                <a:spcPts val="1720"/>
              </a:spcBef>
              <a:buFont typeface="Arial"/>
              <a:buChar char="•"/>
              <a:tabLst>
                <a:tab pos="295910" algn="l"/>
              </a:tabLst>
            </a:pPr>
            <a:endParaRPr lang="en-US" sz="2700" dirty="0">
              <a:solidFill>
                <a:srgbClr val="5D7C40"/>
              </a:solidFill>
              <a:latin typeface="Franklin Gothic Book"/>
              <a:cs typeface="Franklin Gothic Book"/>
            </a:endParaRPr>
          </a:p>
          <a:p>
            <a:pPr marL="295910" indent="-283210">
              <a:spcBef>
                <a:spcPts val="1720"/>
              </a:spcBef>
              <a:buFont typeface="Arial"/>
              <a:buChar char="•"/>
              <a:tabLst>
                <a:tab pos="295910" algn="l"/>
              </a:tabLst>
            </a:pPr>
            <a:r>
              <a:rPr lang="en-US" sz="2700" dirty="0">
                <a:solidFill>
                  <a:srgbClr val="5D7C40"/>
                </a:solidFill>
                <a:latin typeface="Franklin Gothic Book"/>
                <a:cs typeface="Franklin Gothic Book"/>
              </a:rPr>
              <a:t>Business Objective </a:t>
            </a:r>
          </a:p>
          <a:p>
            <a:pPr marL="295910" indent="-283210">
              <a:spcBef>
                <a:spcPts val="1720"/>
              </a:spcBef>
              <a:buFont typeface="Arial"/>
              <a:buChar char="•"/>
              <a:tabLst>
                <a:tab pos="295910" algn="l"/>
              </a:tabLst>
            </a:pPr>
            <a:r>
              <a:rPr lang="en-US" sz="2700" dirty="0">
                <a:solidFill>
                  <a:srgbClr val="5D7C40"/>
                </a:solidFill>
                <a:latin typeface="Franklin Gothic Book"/>
                <a:cs typeface="Franklin Gothic Book"/>
              </a:rPr>
              <a:t>Key Insights </a:t>
            </a:r>
          </a:p>
          <a:p>
            <a:pPr marL="295910" indent="-283210">
              <a:spcBef>
                <a:spcPts val="1720"/>
              </a:spcBef>
              <a:buFont typeface="Arial"/>
              <a:buChar char="•"/>
              <a:tabLst>
                <a:tab pos="295910" algn="l"/>
              </a:tabLst>
            </a:pPr>
            <a:r>
              <a:rPr lang="en-US" sz="2700" dirty="0">
                <a:solidFill>
                  <a:srgbClr val="5D7C40"/>
                </a:solidFill>
                <a:latin typeface="Franklin Gothic Book"/>
                <a:cs typeface="Franklin Gothic Book"/>
              </a:rPr>
              <a:t>Core Challenges </a:t>
            </a:r>
          </a:p>
          <a:p>
            <a:pPr marL="295910" indent="-283210">
              <a:spcBef>
                <a:spcPts val="1720"/>
              </a:spcBef>
              <a:buFont typeface="Arial"/>
              <a:buChar char="•"/>
              <a:tabLst>
                <a:tab pos="295910" algn="l"/>
              </a:tabLst>
            </a:pPr>
            <a:r>
              <a:rPr lang="en-US" sz="2700" dirty="0">
                <a:solidFill>
                  <a:srgbClr val="5D7C40"/>
                </a:solidFill>
                <a:latin typeface="Franklin Gothic Book"/>
                <a:cs typeface="Franklin Gothic Book"/>
              </a:rPr>
              <a:t>Strategic Recommendations </a:t>
            </a:r>
          </a:p>
          <a:p>
            <a:pPr marL="295910" indent="-283210">
              <a:spcBef>
                <a:spcPts val="1720"/>
              </a:spcBef>
              <a:buFont typeface="Arial"/>
              <a:buChar char="•"/>
              <a:tabLst>
                <a:tab pos="295910" algn="l"/>
              </a:tabLst>
            </a:pPr>
            <a:r>
              <a:rPr lang="en-US" sz="2700" dirty="0">
                <a:solidFill>
                  <a:srgbClr val="5D7C40"/>
                </a:solidFill>
                <a:latin typeface="Franklin Gothic Book"/>
                <a:cs typeface="Franklin Gothic Book"/>
              </a:rPr>
              <a:t>Expected Impact </a:t>
            </a:r>
          </a:p>
        </p:txBody>
      </p:sp>
    </p:spTree>
    <p:extLst>
      <p:ext uri="{BB962C8B-B14F-4D97-AF65-F5344CB8AC3E}">
        <p14:creationId xmlns:p14="http://schemas.microsoft.com/office/powerpoint/2010/main" val="1765499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54710" y="353842"/>
            <a:ext cx="8605520" cy="763927"/>
          </a:xfrm>
          <a:prstGeom prst="rect">
            <a:avLst/>
          </a:prstGeom>
        </p:spPr>
        <p:txBody>
          <a:bodyPr vert="horz" wrap="square" lIns="0" tIns="153035" rIns="0" bIns="0" rtlCol="0" anchor="ctr">
            <a:spAutoFit/>
          </a:bodyPr>
          <a:lstStyle/>
          <a:p>
            <a:pPr marL="12700">
              <a:spcBef>
                <a:spcPts val="1720"/>
              </a:spcBef>
              <a:tabLst>
                <a:tab pos="295910" algn="l"/>
              </a:tabLst>
            </a:pPr>
            <a:r>
              <a:rPr lang="en-US" dirty="0">
                <a:solidFill>
                  <a:srgbClr val="5D7C40"/>
                </a:solidFill>
                <a:latin typeface="Franklin Gothic Book"/>
                <a:cs typeface="Franklin Gothic Book"/>
              </a:rPr>
              <a:t>Business Objective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4710" y="1471612"/>
            <a:ext cx="6527725" cy="37093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5875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Evaluate ride performance and customer behavior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Identify inefficiencies in ride completion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Improve: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/>
              <a:t>Conversion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/>
              <a:t>Customer experience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/>
              <a:t>Revenue generation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611" y="0"/>
            <a:ext cx="1437389" cy="147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294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49892" y="380036"/>
            <a:ext cx="8605520" cy="763927"/>
          </a:xfrm>
          <a:prstGeom prst="rect">
            <a:avLst/>
          </a:prstGeom>
        </p:spPr>
        <p:txBody>
          <a:bodyPr vert="horz" wrap="square" lIns="0" tIns="153035" rIns="0" bIns="0" rtlCol="0" anchor="ctr">
            <a:spAutoFit/>
          </a:bodyPr>
          <a:lstStyle/>
          <a:p>
            <a:pPr marL="12700">
              <a:spcBef>
                <a:spcPts val="1720"/>
              </a:spcBef>
              <a:tabLst>
                <a:tab pos="295910" algn="l"/>
              </a:tabLst>
            </a:pPr>
            <a:r>
              <a:rPr lang="en-US" dirty="0">
                <a:solidFill>
                  <a:srgbClr val="5D7C40"/>
                </a:solidFill>
                <a:latin typeface="Franklin Gothic Book"/>
                <a:cs typeface="Franklin Gothic Book"/>
              </a:rPr>
              <a:t>Key Metrics Snapshot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7041" y="1837372"/>
            <a:ext cx="8569374" cy="23551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457200" indent="-457200">
              <a:buFont typeface="Arial" panose="020B0604020202020204" pitchFamily="34" charset="0"/>
              <a:buChar char="•"/>
              <a:defRPr sz="3000"/>
            </a:lvl1pPr>
            <a:lvl2pPr marL="914400" lvl="1" indent="-457200">
              <a:buFont typeface="Arial" panose="020B0604020202020204" pitchFamily="34" charset="0"/>
              <a:buChar char="•"/>
              <a:defRPr sz="3000"/>
            </a:lvl2pPr>
          </a:lstStyle>
          <a:p>
            <a:pPr lvl="1"/>
            <a:r>
              <a:rPr lang="en-US" dirty="0"/>
              <a:t>Conversion Rate: 45% </a:t>
            </a:r>
          </a:p>
          <a:p>
            <a:pPr lvl="1"/>
            <a:r>
              <a:rPr lang="en-US" dirty="0"/>
              <a:t>Customer Cancellation: 48.17% </a:t>
            </a:r>
          </a:p>
          <a:p>
            <a:pPr lvl="1"/>
            <a:r>
              <a:rPr lang="en-US" dirty="0"/>
              <a:t>Driver Cancellation: 47.25%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👉 Nearly 1 in 2 rides gets cancelled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611" y="0"/>
            <a:ext cx="1437389" cy="147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99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605520" cy="763927"/>
          </a:xfrm>
          <a:prstGeom prst="rect">
            <a:avLst/>
          </a:prstGeom>
        </p:spPr>
        <p:txBody>
          <a:bodyPr vert="horz" wrap="square" lIns="0" tIns="153035" rIns="0" bIns="0" rtlCol="0" anchor="ctr">
            <a:spAutoFit/>
          </a:bodyPr>
          <a:lstStyle/>
          <a:p>
            <a:pPr marL="12700">
              <a:spcBef>
                <a:spcPts val="1720"/>
              </a:spcBef>
              <a:tabLst>
                <a:tab pos="295910" algn="l"/>
              </a:tabLst>
            </a:pPr>
            <a:r>
              <a:rPr lang="en-US" dirty="0" smtClean="0">
                <a:solidFill>
                  <a:srgbClr val="5D7C40"/>
                </a:solidFill>
                <a:latin typeface="Franklin Gothic Book"/>
                <a:cs typeface="Franklin Gothic Book"/>
              </a:rPr>
              <a:t>Key </a:t>
            </a:r>
            <a:r>
              <a:rPr lang="en-US" dirty="0">
                <a:solidFill>
                  <a:srgbClr val="5D7C40"/>
                </a:solidFill>
                <a:latin typeface="Franklin Gothic Book"/>
                <a:cs typeface="Franklin Gothic Book"/>
              </a:rPr>
              <a:t>Insights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9886" y="735806"/>
            <a:ext cx="8512797" cy="407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457200" indent="-457200">
              <a:buFont typeface="Arial" panose="020B0604020202020204" pitchFamily="34" charset="0"/>
              <a:buChar char="•"/>
              <a:defRPr sz="3000"/>
            </a:lvl1pPr>
            <a:lvl2pPr marL="914400" lvl="1" indent="-457200">
              <a:buFont typeface="Arial" panose="020B0604020202020204" pitchFamily="34" charset="0"/>
              <a:buChar char="•"/>
              <a:defRPr sz="3000"/>
            </a:lvl2pPr>
          </a:lstStyle>
          <a:p>
            <a:pPr marL="0" indent="0">
              <a:buNone/>
            </a:pPr>
            <a:r>
              <a:rPr lang="en-US" sz="2200" b="1" u="sng" dirty="0"/>
              <a:t>Demand Insights</a:t>
            </a:r>
          </a:p>
          <a:p>
            <a:r>
              <a:rPr lang="en-US" sz="2200" dirty="0"/>
              <a:t>Peak demand reaches 50+ searches per hour </a:t>
            </a:r>
          </a:p>
          <a:p>
            <a:r>
              <a:rPr lang="en-US" sz="2200" dirty="0"/>
              <a:t>Demand varies across: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200" dirty="0"/>
              <a:t>Time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200" dirty="0"/>
              <a:t>Zones </a:t>
            </a:r>
          </a:p>
          <a:p>
            <a:pPr marL="0" indent="0">
              <a:buNone/>
            </a:pPr>
            <a:r>
              <a:rPr lang="en-US" sz="2200" dirty="0"/>
              <a:t>👉 Demand is predictable and recurring</a:t>
            </a:r>
          </a:p>
          <a:p>
            <a:endParaRPr lang="en-US" sz="2200" dirty="0"/>
          </a:p>
          <a:p>
            <a:pPr marL="0" indent="0">
              <a:buNone/>
            </a:pPr>
            <a:r>
              <a:rPr lang="en-US" sz="2200" b="1" u="sng" dirty="0"/>
              <a:t>Revenue Insights</a:t>
            </a:r>
          </a:p>
          <a:p>
            <a:r>
              <a:rPr lang="en-US" sz="2200" dirty="0"/>
              <a:t>Revenue contribution per time slot: 3.5% – 5.99% </a:t>
            </a:r>
          </a:p>
          <a:p>
            <a:r>
              <a:rPr lang="en-US" sz="2200" dirty="0"/>
              <a:t>Not directly proportional to demand </a:t>
            </a:r>
          </a:p>
          <a:p>
            <a:pPr marL="0" indent="0">
              <a:buNone/>
            </a:pPr>
            <a:r>
              <a:rPr lang="en-US" sz="2200" dirty="0"/>
              <a:t>👉 Pricing strategy impacts </a:t>
            </a:r>
            <a:r>
              <a:rPr lang="en-US" sz="2200" dirty="0" smtClean="0"/>
              <a:t>revenue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611" y="0"/>
            <a:ext cx="1437389" cy="147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817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605520" cy="763927"/>
          </a:xfrm>
          <a:prstGeom prst="rect">
            <a:avLst/>
          </a:prstGeom>
        </p:spPr>
        <p:txBody>
          <a:bodyPr vert="horz" wrap="square" lIns="0" tIns="153035" rIns="0" bIns="0" rtlCol="0" anchor="ctr">
            <a:spAutoFit/>
          </a:bodyPr>
          <a:lstStyle/>
          <a:p>
            <a:pPr marL="12700">
              <a:spcBef>
                <a:spcPts val="1720"/>
              </a:spcBef>
              <a:tabLst>
                <a:tab pos="295910" algn="l"/>
              </a:tabLst>
            </a:pPr>
            <a:r>
              <a:rPr lang="en-US" dirty="0" smtClean="0">
                <a:solidFill>
                  <a:srgbClr val="5D7C40"/>
                </a:solidFill>
                <a:latin typeface="Franklin Gothic Book"/>
                <a:cs typeface="Franklin Gothic Book"/>
              </a:rPr>
              <a:t>Key </a:t>
            </a:r>
            <a:r>
              <a:rPr lang="en-US" dirty="0">
                <a:solidFill>
                  <a:srgbClr val="5D7C40"/>
                </a:solidFill>
                <a:latin typeface="Franklin Gothic Book"/>
                <a:cs typeface="Franklin Gothic Book"/>
              </a:rPr>
              <a:t>Insights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66823" y="1297509"/>
            <a:ext cx="8512797" cy="2047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457200" indent="-457200">
              <a:buFont typeface="Arial" panose="020B0604020202020204" pitchFamily="34" charset="0"/>
              <a:buChar char="•"/>
              <a:defRPr sz="3000"/>
            </a:lvl1pPr>
            <a:lvl2pPr marL="914400" lvl="1" indent="-457200">
              <a:buFont typeface="Arial" panose="020B0604020202020204" pitchFamily="34" charset="0"/>
              <a:buChar char="•"/>
              <a:defRPr sz="3000"/>
            </a:lvl2pPr>
          </a:lstStyle>
          <a:p>
            <a:pPr marL="0" indent="0">
              <a:buNone/>
            </a:pPr>
            <a:r>
              <a:rPr lang="en-US" sz="2200" b="1" u="sng" dirty="0" smtClean="0"/>
              <a:t>Zone </a:t>
            </a:r>
            <a:r>
              <a:rPr lang="en-US" sz="2200" b="1" u="sng" dirty="0"/>
              <a:t>Insights</a:t>
            </a:r>
          </a:p>
          <a:p>
            <a:r>
              <a:rPr lang="en-US" sz="2200" dirty="0"/>
              <a:t>Top zones: </a:t>
            </a:r>
          </a:p>
          <a:p>
            <a:pPr lvl="1"/>
            <a:r>
              <a:rPr lang="en-US" sz="2200" dirty="0" err="1"/>
              <a:t>Ramanagaram</a:t>
            </a:r>
            <a:r>
              <a:rPr lang="en-US" sz="2200" dirty="0"/>
              <a:t> (~39 trips) </a:t>
            </a:r>
          </a:p>
          <a:p>
            <a:pPr lvl="1"/>
            <a:r>
              <a:rPr lang="en-US" sz="2200" dirty="0" err="1"/>
              <a:t>Yeshwanthpur</a:t>
            </a:r>
            <a:r>
              <a:rPr lang="en-US" sz="2200" dirty="0"/>
              <a:t> (~36 trips) </a:t>
            </a:r>
          </a:p>
          <a:p>
            <a:pPr lvl="1"/>
            <a:r>
              <a:rPr lang="en-US" sz="2200" dirty="0"/>
              <a:t>Bangalore South (~33 trips) </a:t>
            </a:r>
          </a:p>
          <a:p>
            <a:pPr marL="0" indent="0">
              <a:buNone/>
            </a:pPr>
            <a:r>
              <a:rPr lang="en-US" sz="2200" dirty="0"/>
              <a:t>👉 Few zones generate majority of trips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611" y="0"/>
            <a:ext cx="1437389" cy="147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419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859536" y="640080"/>
            <a:ext cx="10442448" cy="488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078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95071" y="0"/>
            <a:ext cx="8605520" cy="763927"/>
          </a:xfrm>
          <a:prstGeom prst="rect">
            <a:avLst/>
          </a:prstGeom>
        </p:spPr>
        <p:txBody>
          <a:bodyPr vert="horz" wrap="square" lIns="0" tIns="153035" rIns="0" bIns="0" rtlCol="0" anchor="ctr">
            <a:spAutoFit/>
          </a:bodyPr>
          <a:lstStyle/>
          <a:p>
            <a:pPr marL="12700">
              <a:spcBef>
                <a:spcPts val="1720"/>
              </a:spcBef>
              <a:tabLst>
                <a:tab pos="295910" algn="l"/>
              </a:tabLst>
            </a:pPr>
            <a:r>
              <a:rPr lang="en-US" dirty="0">
                <a:solidFill>
                  <a:srgbClr val="5D7C40"/>
                </a:solidFill>
                <a:latin typeface="Franklin Gothic Book"/>
                <a:cs typeface="Franklin Gothic Book"/>
              </a:rPr>
              <a:t>Core Challenges 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69760" y="1221044"/>
            <a:ext cx="7856142" cy="3340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457200" indent="-457200">
              <a:buFont typeface="Arial" panose="020B0604020202020204" pitchFamily="34" charset="0"/>
              <a:buChar char="•"/>
              <a:defRPr sz="3000"/>
            </a:lvl1pPr>
            <a:lvl2pPr marL="914400" lvl="1" indent="-457200">
              <a:buFont typeface="Arial" panose="020B0604020202020204" pitchFamily="34" charset="0"/>
              <a:buChar char="•"/>
              <a:defRPr sz="3000"/>
            </a:lvl2pPr>
            <a:lvl3pPr lvl="2"/>
          </a:lstStyle>
          <a:p>
            <a:pPr marL="0" indent="0">
              <a:buNone/>
            </a:pPr>
            <a:r>
              <a:rPr lang="en-US" sz="2700" b="1" u="sng" dirty="0"/>
              <a:t>Demand </a:t>
            </a:r>
            <a:r>
              <a:rPr lang="en-US" sz="2700" b="1" u="sng" dirty="0" err="1"/>
              <a:t>vs</a:t>
            </a:r>
            <a:r>
              <a:rPr lang="en-US" sz="2700" b="1" u="sng" dirty="0"/>
              <a:t> Conversion Gap</a:t>
            </a:r>
          </a:p>
          <a:p>
            <a:pPr lvl="1"/>
            <a:r>
              <a:rPr lang="en-US" sz="2700" dirty="0"/>
              <a:t>High demand (50+ searches) </a:t>
            </a:r>
          </a:p>
          <a:p>
            <a:pPr lvl="1"/>
            <a:r>
              <a:rPr lang="en-US" sz="2700" dirty="0"/>
              <a:t>Low conversion (45%) </a:t>
            </a:r>
          </a:p>
          <a:p>
            <a:pPr lvl="1"/>
            <a:r>
              <a:rPr lang="en-US" sz="2700" dirty="0"/>
              <a:t>High cancellations (~48%) </a:t>
            </a:r>
            <a:endParaRPr lang="en-US" sz="2700" dirty="0" smtClean="0"/>
          </a:p>
          <a:p>
            <a:pPr marL="457200" lvl="1" indent="0">
              <a:buNone/>
            </a:pPr>
            <a:endParaRPr lang="en-US" sz="2700" dirty="0"/>
          </a:p>
          <a:p>
            <a:pPr marL="0" indent="0">
              <a:buNone/>
            </a:pPr>
            <a:r>
              <a:rPr lang="en-US" sz="2700" dirty="0"/>
              <a:t>👉 Out of 100 searches:</a:t>
            </a:r>
          </a:p>
          <a:p>
            <a:pPr lvl="1"/>
            <a:r>
              <a:rPr lang="en-US" sz="2700" dirty="0"/>
              <a:t>45 completed </a:t>
            </a:r>
          </a:p>
          <a:p>
            <a:pPr lvl="1"/>
            <a:r>
              <a:rPr lang="en-US" sz="2700" dirty="0"/>
              <a:t>~55 drop off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611" y="0"/>
            <a:ext cx="1437389" cy="14716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669" y="4746373"/>
            <a:ext cx="6028323" cy="163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898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9748" y="30480"/>
            <a:ext cx="9586975" cy="763927"/>
          </a:xfrm>
          <a:prstGeom prst="rect">
            <a:avLst/>
          </a:prstGeom>
        </p:spPr>
        <p:txBody>
          <a:bodyPr vert="horz" wrap="square" lIns="0" tIns="153035" rIns="0" bIns="0" rtlCol="0" anchor="ctr">
            <a:spAutoFit/>
          </a:bodyPr>
          <a:lstStyle/>
          <a:p>
            <a:pPr marL="12700">
              <a:spcBef>
                <a:spcPts val="1720"/>
              </a:spcBef>
              <a:tabLst>
                <a:tab pos="295910" algn="l"/>
              </a:tabLst>
            </a:pPr>
            <a:r>
              <a:rPr lang="en-US" dirty="0">
                <a:solidFill>
                  <a:srgbClr val="5D7C40"/>
                </a:solidFill>
                <a:latin typeface="Franklin Gothic Book"/>
                <a:cs typeface="Franklin Gothic Book"/>
              </a:rPr>
              <a:t>Strategic Focus Areas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611" y="0"/>
            <a:ext cx="1437389" cy="1471612"/>
          </a:xfrm>
          <a:prstGeom prst="rect">
            <a:avLst/>
          </a:prstGeom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627017" y="1286314"/>
            <a:ext cx="5037148" cy="23551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5875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Improve conversion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Reduce cancellations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Optimize driver allocation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Enhance pricing strategy </a:t>
            </a:r>
          </a:p>
        </p:txBody>
      </p:sp>
    </p:spTree>
    <p:extLst>
      <p:ext uri="{BB962C8B-B14F-4D97-AF65-F5344CB8AC3E}">
        <p14:creationId xmlns:p14="http://schemas.microsoft.com/office/powerpoint/2010/main" val="1888293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3028" y="150407"/>
            <a:ext cx="9586975" cy="763927"/>
          </a:xfrm>
          <a:prstGeom prst="rect">
            <a:avLst/>
          </a:prstGeom>
        </p:spPr>
        <p:txBody>
          <a:bodyPr vert="horz" wrap="square" lIns="0" tIns="153035" rIns="0" bIns="0" rtlCol="0" anchor="ctr">
            <a:spAutoFit/>
          </a:bodyPr>
          <a:lstStyle/>
          <a:p>
            <a:pPr marL="12700">
              <a:spcBef>
                <a:spcPts val="1720"/>
              </a:spcBef>
              <a:tabLst>
                <a:tab pos="295910" algn="l"/>
              </a:tabLst>
            </a:pPr>
            <a:r>
              <a:rPr lang="en-US" dirty="0">
                <a:solidFill>
                  <a:srgbClr val="5D7C40"/>
                </a:solidFill>
                <a:latin typeface="Franklin Gothic Book"/>
                <a:cs typeface="Franklin Gothic Book"/>
              </a:rPr>
              <a:t>Recommendations</a:t>
            </a:r>
            <a:r>
              <a:rPr lang="en-US" dirty="0" smtClean="0"/>
              <a:t> </a:t>
            </a:r>
            <a:endParaRPr lang="en-US" dirty="0">
              <a:solidFill>
                <a:srgbClr val="5D7C40"/>
              </a:solidFill>
              <a:latin typeface="Franklin Gothic Book"/>
              <a:cs typeface="Franklin Gothic Book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611" y="0"/>
            <a:ext cx="1437389" cy="1471612"/>
          </a:xfrm>
          <a:prstGeom prst="rect">
            <a:avLst/>
          </a:prstGeom>
        </p:spPr>
      </p:pic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1136509" y="1012489"/>
            <a:ext cx="7737050" cy="50943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5875" rIns="0" bIns="0" rtlCol="0">
            <a:spAutoFit/>
          </a:bodyPr>
          <a:lstStyle/>
          <a:p>
            <a:r>
              <a:rPr lang="en-US" sz="3000" b="1" u="sng" dirty="0"/>
              <a:t>Improve Conversion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Provide accurate ETA and fare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Reduce wait time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Retarget drop-off users </a:t>
            </a:r>
          </a:p>
          <a:p>
            <a:r>
              <a:rPr lang="en-US" sz="3000" dirty="0"/>
              <a:t>👉 Can increase conversion from 45% → 55%+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 smtClean="0"/>
          </a:p>
          <a:p>
            <a:r>
              <a:rPr lang="en-US" sz="3000" b="1" u="sng" dirty="0" smtClean="0"/>
              <a:t>Reduce Cancellations</a:t>
            </a: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Customer penalties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Driver incentives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Better ride matching </a:t>
            </a:r>
          </a:p>
          <a:p>
            <a:r>
              <a:rPr lang="en-US" sz="3000" dirty="0"/>
              <a:t>👉 Can reduce cancellations by 10–15%</a:t>
            </a:r>
          </a:p>
        </p:txBody>
      </p:sp>
    </p:spTree>
    <p:extLst>
      <p:ext uri="{BB962C8B-B14F-4D97-AF65-F5344CB8AC3E}">
        <p14:creationId xmlns:p14="http://schemas.microsoft.com/office/powerpoint/2010/main" val="1622765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2608" y="121505"/>
            <a:ext cx="9586975" cy="763927"/>
          </a:xfrm>
          <a:prstGeom prst="rect">
            <a:avLst/>
          </a:prstGeom>
        </p:spPr>
        <p:txBody>
          <a:bodyPr vert="horz" wrap="square" lIns="0" tIns="153035" rIns="0" bIns="0" rtlCol="0" anchor="ctr">
            <a:spAutoFit/>
          </a:bodyPr>
          <a:lstStyle/>
          <a:p>
            <a:pPr marL="12700">
              <a:spcBef>
                <a:spcPts val="1720"/>
              </a:spcBef>
              <a:tabLst>
                <a:tab pos="295910" algn="l"/>
              </a:tabLst>
            </a:pPr>
            <a:r>
              <a:rPr lang="en-US" dirty="0">
                <a:solidFill>
                  <a:srgbClr val="5D7C40"/>
                </a:solidFill>
                <a:latin typeface="Franklin Gothic Book"/>
                <a:cs typeface="Franklin Gothic Book"/>
              </a:rPr>
              <a:t>Recommendations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611" y="0"/>
            <a:ext cx="1437389" cy="1471612"/>
          </a:xfrm>
          <a:prstGeom prst="rect">
            <a:avLst/>
          </a:prstGeom>
        </p:spPr>
      </p:pic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906597" y="1158103"/>
            <a:ext cx="8119872" cy="41710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5875" rIns="0" bIns="0" rtlCol="0">
            <a:spAutoFit/>
          </a:bodyPr>
          <a:lstStyle/>
          <a:p>
            <a:r>
              <a:rPr lang="en-US" sz="2700" b="1" u="sng" dirty="0"/>
              <a:t>Optimize Supply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Focus on peak demand periods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Allocate drivers dynamically </a:t>
            </a:r>
          </a:p>
          <a:p>
            <a:r>
              <a:rPr lang="en-US" sz="2700" dirty="0"/>
              <a:t>👉 Improve ride availability and reduce wait </a:t>
            </a:r>
            <a:r>
              <a:rPr lang="en-US" sz="2700" dirty="0" smtClean="0"/>
              <a:t>time</a:t>
            </a:r>
          </a:p>
          <a:p>
            <a:endParaRPr lang="en-US" sz="2700" dirty="0"/>
          </a:p>
          <a:p>
            <a:r>
              <a:rPr lang="en-US" sz="2700" b="1" u="sng" dirty="0"/>
              <a:t>Pricing Strategy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Use micro-surge pricing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Avoid excessive surge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Offer off-peak discounts </a:t>
            </a:r>
          </a:p>
          <a:p>
            <a:r>
              <a:rPr lang="en-US" sz="2700" dirty="0"/>
              <a:t>👉 Improve conversion and revenue</a:t>
            </a:r>
          </a:p>
        </p:txBody>
      </p:sp>
    </p:spTree>
    <p:extLst>
      <p:ext uri="{BB962C8B-B14F-4D97-AF65-F5344CB8AC3E}">
        <p14:creationId xmlns:p14="http://schemas.microsoft.com/office/powerpoint/2010/main" val="3866107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0373" y="88453"/>
            <a:ext cx="9586975" cy="708527"/>
          </a:xfrm>
          <a:prstGeom prst="rect">
            <a:avLst/>
          </a:prstGeom>
        </p:spPr>
        <p:txBody>
          <a:bodyPr vert="horz" wrap="square" lIns="0" tIns="153035" rIns="0" bIns="0" rtlCol="0" anchor="ctr">
            <a:spAutoFit/>
          </a:bodyPr>
          <a:lstStyle/>
          <a:p>
            <a:pPr marL="12700">
              <a:spcBef>
                <a:spcPts val="1720"/>
              </a:spcBef>
              <a:tabLst>
                <a:tab pos="295910" algn="l"/>
              </a:tabLst>
            </a:pPr>
            <a:r>
              <a:rPr lang="en-US" dirty="0">
                <a:solidFill>
                  <a:srgbClr val="5D7C40"/>
                </a:solidFill>
                <a:latin typeface="Franklin Gothic Book"/>
                <a:cs typeface="Franklin Gothic Book"/>
              </a:rPr>
              <a:t>Expected Business Impact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611" y="0"/>
            <a:ext cx="1437389" cy="1471612"/>
          </a:xfrm>
          <a:prstGeom prst="rect">
            <a:avLst/>
          </a:prstGeom>
        </p:spPr>
      </p:pic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691920" y="1349290"/>
            <a:ext cx="7453632" cy="42171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5875" rIns="0" bIns="0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700" dirty="0"/>
              <a:t>Increase conversion (45% → 55%+)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700" dirty="0"/>
              <a:t>Reduce cancellations (~48% → lower)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700" dirty="0"/>
              <a:t>Improve customer satisfaction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700" dirty="0"/>
              <a:t>Increase revenue and efficiency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700" dirty="0"/>
          </a:p>
          <a:p>
            <a:r>
              <a:rPr lang="en-US" sz="2700" b="1" u="sng" dirty="0"/>
              <a:t>Conclusion</a:t>
            </a:r>
          </a:p>
          <a:p>
            <a:pPr lvl="1"/>
            <a:r>
              <a:rPr lang="en-US" sz="2700" dirty="0"/>
              <a:t>Namma Yatri faces a demand-supply mismatch </a:t>
            </a:r>
            <a:r>
              <a:rPr lang="en-US" sz="2700"/>
              <a:t>where </a:t>
            </a:r>
            <a:r>
              <a:rPr lang="en-US" sz="2800" smtClean="0"/>
              <a:t>o</a:t>
            </a:r>
            <a:r>
              <a:rPr lang="en-US" sz="2800" smtClean="0"/>
              <a:t>ut </a:t>
            </a:r>
            <a:r>
              <a:rPr lang="en-US" sz="2800" dirty="0"/>
              <a:t>of every 100 searches, only 45 convert into rides, highlighting a major operational efficiency </a:t>
            </a:r>
            <a:r>
              <a:rPr lang="en-US" sz="2800" dirty="0" smtClean="0"/>
              <a:t>gap</a:t>
            </a:r>
            <a:r>
              <a:rPr lang="en-US" sz="2700" dirty="0" smtClean="0"/>
              <a:t>. 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3066059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595312" y="3957701"/>
            <a:ext cx="2134235" cy="4445"/>
          </a:xfrm>
          <a:custGeom>
            <a:avLst/>
            <a:gdLst/>
            <a:ahLst/>
            <a:cxnLst/>
            <a:rect l="l" t="t" r="r" b="b"/>
            <a:pathLst>
              <a:path w="2134235" h="4445">
                <a:moveTo>
                  <a:pt x="0" y="0"/>
                </a:moveTo>
                <a:lnTo>
                  <a:pt x="2133663" y="3937"/>
                </a:lnTo>
              </a:path>
            </a:pathLst>
          </a:custGeom>
          <a:ln w="101600">
            <a:solidFill>
              <a:srgbClr val="5D7C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81977" y="2752978"/>
            <a:ext cx="5283246" cy="941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0" spc="65" dirty="0"/>
              <a:t>Thank</a:t>
            </a:r>
            <a:r>
              <a:rPr sz="6000" spc="275" dirty="0"/>
              <a:t> </a:t>
            </a:r>
            <a:r>
              <a:rPr sz="6000" spc="-25" dirty="0"/>
              <a:t>you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145501429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3940</TotalTime>
  <Words>342</Words>
  <Application>Microsoft Office PowerPoint</Application>
  <PresentationFormat>Widescreen</PresentationFormat>
  <Paragraphs>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Franklin Gothic Book</vt:lpstr>
      <vt:lpstr>Franklin Gothic Demi</vt:lpstr>
      <vt:lpstr>Trebuchet MS</vt:lpstr>
      <vt:lpstr>Wingdings 3</vt:lpstr>
      <vt:lpstr>Facet</vt:lpstr>
      <vt:lpstr>PowerPoint Presentation</vt:lpstr>
      <vt:lpstr>PowerPoint Presentation</vt:lpstr>
      <vt:lpstr>Business Objective</vt:lpstr>
      <vt:lpstr>Key Metrics Snapshot</vt:lpstr>
      <vt:lpstr>Key Insights</vt:lpstr>
      <vt:lpstr>Key Insights</vt:lpstr>
      <vt:lpstr>PowerPoint Presentation</vt:lpstr>
      <vt:lpstr>Core Challenges </vt:lpstr>
      <vt:lpstr>Strategic Focus Areas</vt:lpstr>
      <vt:lpstr>Recommendations </vt:lpstr>
      <vt:lpstr>Recommendations </vt:lpstr>
      <vt:lpstr>Expected Business Impact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23</cp:revision>
  <dcterms:created xsi:type="dcterms:W3CDTF">2026-05-01T05:45:59Z</dcterms:created>
  <dcterms:modified xsi:type="dcterms:W3CDTF">2026-05-05T18:20:31Z</dcterms:modified>
</cp:coreProperties>
</file>